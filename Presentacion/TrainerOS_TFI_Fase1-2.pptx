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40280"/>
            <a:ext cx="107259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Segoe UI"/>
              </a:rPr>
              <a:t>TrainerOS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10128"/>
            <a:ext cx="107259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E8741E"/>
                </a:solidFill>
                <a:latin typeface="Segoe UI"/>
              </a:rPr>
              <a:t>“Del Código a la Arquitectura: El Criterio del Desarrollador”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136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D6E0EA"/>
                </a:solidFill>
                <a:latin typeface="Segoe UI"/>
              </a:rPr>
              <a:t>Plataforma SaaS de gestión para entrenadores personales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526280"/>
            <a:ext cx="12191695" cy="4114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725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AEBFCE"/>
                </a:solidFill>
                <a:latin typeface="Segoe UI"/>
              </a:rPr>
              <a:t>Fase 1: Monolito modular en 3 capas      →      Fase 2: Microservicios tradicionales y modernos (event-driven)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97880"/>
            <a:ext cx="10725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TFI · Desarrollo de Aplicaciones Web · Grupo VOX</a:t>
            </a:r>
          </a:p>
          <a:p>
            <a:pPr algn="ctr"/>
            <a:r>
              <a:rPr sz="1050" b="0">
                <a:solidFill>
                  <a:srgbClr val="AEBFCE"/>
                </a:solidFill>
                <a:latin typeface="Segoe UI"/>
              </a:rPr>
              <a:t>Conrado Gómez   ·   Nicolás Zyngale   ·   Matías Saravia   ·   Lautaro Naglieri   ·   Pablo Czurylo   ·   Leandro Gramajo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4E79"/>
                </a:solidFill>
                <a:latin typeface="Segoe UI"/>
              </a:rPr>
              <a:t>El problema y el modelo de negocio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7A7A7A"/>
                </a:solidFill>
                <a:latin typeface="Segoe UI"/>
              </a:rPr>
              <a:t>Por qué existe TrainerOS y cómo gana dinero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5440680" cy="219456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937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F4E79"/>
                </a:solidFill>
                <a:latin typeface="Segoe UI"/>
              </a:rPr>
              <a:t>EL PROBLEMA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50" b="0">
                <a:solidFill>
                  <a:srgbClr val="404040"/>
                </a:solidFill>
                <a:latin typeface="Segoe UI"/>
              </a:rPr>
              <a:t>Los entrenadores gestionan decenas de alumnos con </a:t>
            </a:r>
            <a:r>
              <a:rPr sz="1350" b="1">
                <a:solidFill>
                  <a:srgbClr val="E8741E"/>
                </a:solidFill>
                <a:latin typeface="Segoe UI"/>
              </a:rPr>
              <a:t>planillas de Excel y mensajes de WhatsApp</a:t>
            </a:r>
            <a:r>
              <a:rPr sz="1350" b="0">
                <a:solidFill>
                  <a:srgbClr val="404040"/>
                </a:solidFill>
                <a:latin typeface="Segoe UI"/>
              </a:rPr>
              <a:t>.</a:t>
            </a:r>
          </a:p>
          <a:p>
            <a:pPr algn="l">
              <a:lnSpc>
                <a:spcPct val="118000"/>
              </a:lnSpc>
            </a:pPr>
            <a:r>
              <a:rPr sz="1350" b="0">
                <a:solidFill>
                  <a:srgbClr val="404040"/>
                </a:solidFill>
                <a:latin typeface="Segoe UI"/>
              </a:rPr>
              <a:t>Caos logístico, rutinas desactualizadas y pérdida de control sobre los cobros de membresías.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783080"/>
            <a:ext cx="5285232" cy="219456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01168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F4E79"/>
                </a:solidFill>
                <a:latin typeface="Segoe UI"/>
              </a:rPr>
              <a:t>MODELO DE NEGOCIO — SaaS B2B2C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50" b="1">
                <a:solidFill>
                  <a:srgbClr val="E8741E"/>
                </a:solidFill>
                <a:latin typeface="Segoe UI"/>
              </a:rPr>
              <a:t>Suscripción mensual por entrenador</a:t>
            </a:r>
            <a:r>
              <a:rPr sz="1350" b="0">
                <a:solidFill>
                  <a:srgbClr val="404040"/>
                </a:solidFill>
                <a:latin typeface="Segoe UI"/>
              </a:rPr>
              <a:t> (multitenant). El entrenador paga; sus alumnos usan gratis un panel móvil.</a:t>
            </a:r>
          </a:p>
          <a:p>
            <a:pPr algn="l">
              <a:lnSpc>
                <a:spcPct val="118000"/>
              </a:lnSpc>
            </a:pPr>
            <a:r>
              <a:rPr sz="1350" b="0">
                <a:solidFill>
                  <a:srgbClr val="404040"/>
                </a:solidFill>
                <a:latin typeface="Segoe UI"/>
              </a:rPr>
              <a:t>Cada entrenador es un tenant aislado: sus datos nunca se cruzan con los de otro.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Segoe UI"/>
              </a:rPr>
              <a:t>Funcionalidades del MVP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63440"/>
            <a:ext cx="2706624" cy="123444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663440"/>
            <a:ext cx="64008" cy="12344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882896"/>
            <a:ext cx="2322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Auth con Google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A7A"/>
                </a:solidFill>
                <a:latin typeface="Segoe UI"/>
              </a:rPr>
              <a:t>Identidad y acceso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5400" y="4663440"/>
            <a:ext cx="2706624" cy="123444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5400" y="4663440"/>
            <a:ext cx="64008" cy="12344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4856" y="4882896"/>
            <a:ext cx="2322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Constructor de rutinas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A7A"/>
                </a:solidFill>
                <a:latin typeface="Segoe UI"/>
              </a:rPr>
              <a:t>Sobre catálogo de ejercicios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0721" y="4663440"/>
            <a:ext cx="2706624" cy="123444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0721" y="4663440"/>
            <a:ext cx="64008" cy="12344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0177" y="4882896"/>
            <a:ext cx="2322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Panel móvil del alumno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A7A"/>
                </a:solidFill>
                <a:latin typeface="Segoe UI"/>
              </a:rPr>
              <a:t>Rutina del día y progreso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6042" y="4663440"/>
            <a:ext cx="2706624" cy="123444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26042" y="4663440"/>
            <a:ext cx="64008" cy="12344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5498" y="4882896"/>
            <a:ext cx="2322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Control de pagos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A7A"/>
                </a:solidFill>
                <a:latin typeface="Segoe UI"/>
              </a:rPr>
              <a:t>Membresías y alertas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2 / 12   ·   Expone: Conrado Gómez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se1_monolito_3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214" y="201168"/>
            <a:ext cx="9400522" cy="6309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   ·   Expone: Nicolás Zyngale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4E79"/>
                </a:solidFill>
                <a:latin typeface="Segoe UI"/>
              </a:rPr>
              <a:t>¿Por qué alcanza para arrancar? ¿Cuáles son sus límites?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7A7A7A"/>
                </a:solidFill>
                <a:latin typeface="Segoe UI"/>
              </a:rPr>
              <a:t>El monolito como decisión deliberada, no como pecado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5394960" cy="416052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39496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F4E79"/>
                </a:solidFill>
                <a:latin typeface="Segoe UI"/>
              </a:rPr>
              <a:t>POR QUÉ ALCANZA PARA ARRANCAR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F4E79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Costo y time-to-market mínimos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Un deploy, una base y un pipeline. USD 7–16/mes; sprints semanales.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79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F4E79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Un solo lenguaje de punta a punta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Node.js comparte ecosistema con el frontend (TypeScript full-stack).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2452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F4E79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Ideal para carga I/O-bound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95% lecturas/escrituras, sin cómputo pesado: Express + Prisma rinde.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65776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F4E79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Modularidad intencional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Los módulos ya son los futuros microservicios. Abarata la Fase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5376672" cy="416052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783080"/>
            <a:ext cx="5376672" cy="82296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01168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C75F12"/>
                </a:solidFill>
                <a:latin typeface="Segoe UI"/>
              </a:rPr>
              <a:t>SUS LÍMITES  (disparan la 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42032"/>
            <a:ext cx="48463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Solo escala vertical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Un pico en Rutinas obliga a escalar todo el monolito.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214115"/>
            <a:ext cx="48463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Acoplamiento de despliegue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Un deploy defectuoso de un módulo tumba todo el sistema.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886200"/>
            <a:ext cx="48463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Base única = riesgo concentrado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Una query pesada de reportes degrada lo transaccional.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58284"/>
            <a:ext cx="48463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Cuello de botella de equipos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Varios equipos: merge conflicts y releases que coordinar.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5230368"/>
            <a:ext cx="48463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Sin alta disponibilidad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Render/Railway no dan autoscaling granular ni SLAs.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4 / 12   ·   Expone: Nicolás Zyngale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4E79"/>
                </a:solidFill>
                <a:latin typeface="Segoe UI"/>
              </a:rPr>
              <a:t>El negocio fuerza la evolución a microservicios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7A7A7A"/>
                </a:solidFill>
                <a:latin typeface="Segoe UI"/>
              </a:rPr>
              <a:t>12 meses después: convenios B2B con dos cadenas regionales de gimnasios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10908792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5720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AEBFCE"/>
                </a:solidFill>
                <a:latin typeface="Segoe UI"/>
              </a:rPr>
              <a:t>De </a:t>
            </a:r>
            <a:r>
              <a:rPr sz="1800" b="1">
                <a:solidFill>
                  <a:srgbClr val="FFFFFF"/>
                </a:solidFill>
                <a:latin typeface="Segoe UI"/>
              </a:rPr>
              <a:t>100 entrenadores</a:t>
            </a:r>
          </a:p>
          <a:p>
            <a:pPr algn="l"/>
            <a:r>
              <a:rPr sz="1100" b="0">
                <a:solidFill>
                  <a:srgbClr val="AEBFCE"/>
                </a:solidFill>
                <a:latin typeface="Segoe UI"/>
              </a:rPr>
              <a:t>monolito · ~5.000 alumnos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737360"/>
            <a:ext cx="914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E8741E"/>
                </a:solidFill>
                <a:latin typeface="Segoe UI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AEBFCE"/>
                </a:solidFill>
                <a:latin typeface="Segoe UI"/>
              </a:rPr>
              <a:t>A </a:t>
            </a:r>
            <a:r>
              <a:rPr sz="1800" b="1">
                <a:solidFill>
                  <a:srgbClr val="E8741E"/>
                </a:solidFill>
                <a:latin typeface="Segoe UI"/>
              </a:rPr>
              <a:t>5.000 entrenadores</a:t>
            </a:r>
          </a:p>
          <a:p>
            <a:pPr algn="l"/>
            <a:r>
              <a:rPr sz="1100" b="0">
                <a:solidFill>
                  <a:srgbClr val="AEBFCE"/>
                </a:solidFill>
                <a:latin typeface="Segoe UI"/>
              </a:rPr>
              <a:t>~120.000 alumnos activos · equipos independientes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Segoe UI"/>
              </a:rPr>
              <a:t>Tres presiones que el monolito no resuelve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91840"/>
            <a:ext cx="3602736" cy="24688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6112" y="3520440"/>
            <a:ext cx="548640" cy="5486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20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224528"/>
            <a:ext cx="309067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1F4E79"/>
                </a:solidFill>
                <a:latin typeface="Segoe UI"/>
              </a:rPr>
              <a:t>Picos de tráfico violentos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404040"/>
                </a:solidFill>
                <a:latin typeface="Segoe UI"/>
              </a:rPr>
              <a:t>De 18 a 21 h los alumnos consultan su rutina desde el gimnasio (lecturas masivas). Los lunes el pico se triplica.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4548" y="3291840"/>
            <a:ext cx="3602736" cy="24688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40580" y="3520440"/>
            <a:ext cx="548640" cy="5486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0580" y="3520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0580" y="4224528"/>
            <a:ext cx="309067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1F4E79"/>
                </a:solidFill>
                <a:latin typeface="Segoe UI"/>
              </a:rPr>
              <a:t>Equipos independientes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404040"/>
                </a:solidFill>
                <a:latin typeface="Segoe UI"/>
              </a:rPr>
              <a:t>Tres equipos (Core de rutinas, Pagos/B2B, Experiencia del alumno) que necesitan desplegar sin coordinarse.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9015" y="3291840"/>
            <a:ext cx="3602736" cy="24688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85047" y="3520440"/>
            <a:ext cx="548640" cy="5486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5047" y="3520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7" y="4224528"/>
            <a:ext cx="309067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1F4E79"/>
                </a:solidFill>
                <a:latin typeface="Segoe UI"/>
              </a:rPr>
              <a:t>Requisitos B2B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404040"/>
                </a:solidFill>
                <a:latin typeface="Segoe UI"/>
              </a:rPr>
              <a:t>Las cadenas exigen SLA, facturación consolidada y notificaciones masivas que no pueden competir con el flujo crítico.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5 / 12   ·   Expone: Matías Saravia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se2a_microservicios_tradicio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68337"/>
            <a:ext cx="11731752" cy="557502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   ·   Expone: Matías Saravia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se2b_microservicios_modern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24086"/>
            <a:ext cx="11731752" cy="546352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   ·   Expone: Lautaro Naglieri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4E79"/>
                </a:solidFill>
                <a:latin typeface="Segoe UI"/>
              </a:rPr>
              <a:t>Patrones aplicados y su justificación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7A7A7A"/>
                </a:solidFill>
                <a:latin typeface="Segoe UI"/>
              </a:rPr>
              <a:t>Cada patrón responde a un problema concreto del negocio — no se usa “porque sí”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10908792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783080"/>
            <a:ext cx="24688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Segoe UI"/>
              </a:rPr>
              <a:t>PATRÓN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3657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Segoe UI"/>
              </a:rPr>
              <a:t>DÓNDE SE APLICA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8040" y="1783080"/>
            <a:ext cx="42062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Segoe UI"/>
              </a:rPr>
              <a:t>POR QUÉ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85416"/>
            <a:ext cx="1090879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85416"/>
            <a:ext cx="54864" cy="65836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185416"/>
            <a:ext cx="2514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Segoe UI"/>
              </a:rPr>
              <a:t>API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185416"/>
            <a:ext cx="3703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Punto único de entrada (Kong / Cloud Endpoints)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185416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Centraliza JWT, rate limiting y versionado; oculta la topología interna.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43784"/>
            <a:ext cx="10908792" cy="658368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843784"/>
            <a:ext cx="54864" cy="65836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43784"/>
            <a:ext cx="2514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Segoe UI"/>
              </a:rPr>
              <a:t>Database per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843784"/>
            <a:ext cx="3703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Cada microservicio con su propia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843784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Autonomía de esquema y de despliegue; evita el acoplamiento por datos.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02152"/>
            <a:ext cx="1090879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502152"/>
            <a:ext cx="54864" cy="65836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502152"/>
            <a:ext cx="2514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Segoe UI"/>
              </a:rPr>
              <a:t>Pub/Sub (eventos)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502152"/>
            <a:ext cx="3703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Rutinas y Pagos publican; Notif./Analytics/Query suscriben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502152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Desacopla en el tiempo: una caída no se propaga; los eventos se reintentan.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160520"/>
            <a:ext cx="10908792" cy="658368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160520"/>
            <a:ext cx="54864" cy="65836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160520"/>
            <a:ext cx="2514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Segoe UI"/>
              </a:rPr>
              <a:t>CQRS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160520"/>
            <a:ext cx="3703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Escritura (Rutinas) vs. lectura (Query, vista materializada)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160520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Carga asimétrica: miles leen, pocos escriben. Se optimiza cada lado.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818888"/>
            <a:ext cx="1090879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818888"/>
            <a:ext cx="54864" cy="65836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4818888"/>
            <a:ext cx="2514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Segoe UI"/>
              </a:rPr>
              <a:t>Saga (orquestada)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4818888"/>
            <a:ext cx="3703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Cobro: pago → confirmación → membresía → notificación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4818888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Consistencia eventual con compensaciones (rollback), sin trans. distribuidas.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477255"/>
            <a:ext cx="10908792" cy="658368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477255"/>
            <a:ext cx="54864" cy="65836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5477255"/>
            <a:ext cx="2514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Segoe UI"/>
              </a:rPr>
              <a:t>Circuit Breaker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5477255"/>
            <a:ext cx="3703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Llamadas síncronas residuales (pasarela de pago externa)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5477255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Evita el efecto dominó: ante fallos abre el circuito y responde fallback.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8 / 12   ·   Expone: Lautaro Naglieri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olucion_3_arquitectu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63321"/>
            <a:ext cx="11731752" cy="55850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