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FDBFE"/>
                </a:solidFill>
                <a:latin typeface="Segoe UI"/>
              </a:rPr>
              <a:t>TRABAJO FINAL INTEGRADOR  ·  DESARROLLO DE APLICACIONES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Segoe UI"/>
              </a:rPr>
              <a:t>TrainerOS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>
                <a:solidFill>
                  <a:srgbClr val="BFDBFE"/>
                </a:solidFill>
                <a:latin typeface="Segoe UI"/>
              </a:rPr>
              <a:t>Plataforma SaaS de gestión para entrenadores personales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101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Segoe UI"/>
              </a:rPr>
              <a:t>“Del Código a la Arquitectura: El Criterio del Desarrollador”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114800"/>
            <a:ext cx="10561320" cy="10515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79392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Defensa de arquitectura — Fases 1 y 2</a:t>
            </a:r>
          </a:p>
          <a:p>
            <a:pPr algn="l"/>
            <a:r>
              <a:rPr sz="1250" b="0">
                <a:solidFill>
                  <a:srgbClr val="BFDBFE"/>
                </a:solidFill>
                <a:latin typeface="Segoe UI"/>
              </a:rPr>
              <a:t>Fase 1: Monolito modular en 3 capas   </a:t>
            </a:r>
            <a:r>
              <a:rPr sz="1250" b="1">
                <a:solidFill>
                  <a:srgbClr val="059669"/>
                </a:solidFill>
                <a:latin typeface="Segoe UI"/>
              </a:rPr>
              <a:t>→   </a:t>
            </a:r>
            <a:r>
              <a:rPr sz="1250" b="0">
                <a:solidFill>
                  <a:srgbClr val="BFDBFE"/>
                </a:solidFill>
                <a:latin typeface="Segoe UI"/>
              </a:rPr>
              <a:t>Fase 2: Microservicios tradicionales y modernos (event-driven)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86400"/>
            <a:ext cx="10561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94A3B8"/>
                </a:solidFill>
                <a:latin typeface="Segoe UI"/>
              </a:rPr>
              <a:t>Equipo MMP-SOFTWARE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Segoe UI"/>
              </a:rPr>
              <a:t>Conrado Gómez · Nicolás Zyngale · Matías Saravia · Lautaro Naglieri · Pablo Czurylo · Leandro Gramajo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822960" cy="301752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82296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94944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Segoe UI"/>
              </a:rPr>
              <a:t>El problema y el modelo de negocio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Segoe UI"/>
              </a:rPr>
              <a:t>Por qué existe TrainerOS y cómo gana dinero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544068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73152" cy="20574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49377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C2626"/>
                </a:solidFill>
                <a:latin typeface="Segoe UI"/>
              </a:rPr>
              <a:t>EL PROBLEMA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Segoe UI"/>
              </a:rPr>
              <a:t>Los entrenadores gestionan decenas de alumnos con </a:t>
            </a:r>
            <a:r>
              <a:rPr sz="1300" b="1">
                <a:solidFill>
                  <a:srgbClr val="0F172A"/>
                </a:solidFill>
                <a:latin typeface="Segoe UI"/>
              </a:rPr>
              <a:t>planillas de Excel y mensajes de WhatsApp</a:t>
            </a:r>
            <a:r>
              <a:rPr sz="1300" b="0">
                <a:solidFill>
                  <a:srgbClr val="334155"/>
                </a:solidFill>
                <a:latin typeface="Segoe U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Resultado: caos logístico, rutinas desactualizadas y pérdida de control sobre los cobros de membresías.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422392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73152" cy="20574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874519"/>
            <a:ext cx="49377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59669"/>
                </a:solidFill>
                <a:latin typeface="Segoe UI"/>
              </a:rPr>
              <a:t>MODELO DE NEGOCIO — SaaS B2B2C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Suscripción mensual por entrenador</a:t>
            </a:r>
            <a:r>
              <a:rPr sz="1300" b="0">
                <a:solidFill>
                  <a:srgbClr val="334155"/>
                </a:solidFill>
                <a:latin typeface="Segoe UI"/>
              </a:rPr>
              <a:t> (multitenant). El entrenador paga la herramienta; sus alumnos acceden gratis a un panel móvil.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Cada entrenador es un </a:t>
            </a:r>
            <a:r>
              <a:rPr sz="1300" b="1">
                <a:solidFill>
                  <a:srgbClr val="0F172A"/>
                </a:solidFill>
                <a:latin typeface="Segoe UI"/>
              </a:rPr>
              <a:t>tenant aislado</a:t>
            </a:r>
            <a:r>
              <a:rPr sz="1300" b="0">
                <a:solidFill>
                  <a:srgbClr val="334155"/>
                </a:solidFill>
                <a:latin typeface="Segoe UI"/>
              </a:rPr>
              <a:t>: sus datos nunca se cruzan con los de otro.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261104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"/>
              </a:rPr>
              <a:t>Funcionalidades del MVP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681728"/>
            <a:ext cx="2706624" cy="1325880"/>
          </a:xfrm>
          <a:prstGeom prst="roundRect">
            <a:avLst>
              <a:gd name="adj" fmla="val 7000"/>
            </a:avLst>
          </a:prstGeom>
          <a:solidFill>
            <a:srgbClr val="EFF6FF"/>
          </a:solidFill>
          <a:ln w="1587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7512" y="4828032"/>
            <a:ext cx="237744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992624"/>
            <a:ext cx="23408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Auth con Google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Identidad y acceso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00984" y="4681728"/>
            <a:ext cx="2706624" cy="1325880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 w="1587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65576" y="4828032"/>
            <a:ext cx="2377440" cy="5486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83864" y="4992624"/>
            <a:ext cx="23408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Constructor de rutinas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Desde catálogo de ejercicios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9048" y="4681728"/>
            <a:ext cx="2706624" cy="1325880"/>
          </a:xfrm>
          <a:prstGeom prst="roundRect">
            <a:avLst>
              <a:gd name="adj" fmla="val 7000"/>
            </a:avLst>
          </a:prstGeom>
          <a:solidFill>
            <a:srgbClr val="ECFDF5"/>
          </a:solidFill>
          <a:ln w="1587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640" y="4828032"/>
            <a:ext cx="2377440" cy="54864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1928" y="4992624"/>
            <a:ext cx="23408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Panel móvil del alumno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Rutina del día y progreso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97112" y="4681728"/>
            <a:ext cx="2706624" cy="1325880"/>
          </a:xfrm>
          <a:prstGeom prst="roundRect">
            <a:avLst>
              <a:gd name="adj" fmla="val 7000"/>
            </a:avLst>
          </a:prstGeom>
          <a:solidFill>
            <a:srgbClr val="FEF3C7"/>
          </a:solidFill>
          <a:ln w="1587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61704" y="4828032"/>
            <a:ext cx="2377440" cy="5486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79992" y="4992624"/>
            <a:ext cx="23408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Control de pagos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Membresías y alertas de venc.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437376"/>
            <a:ext cx="1118311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TrainerOS — TFI Desarrollo de Aplicaciones Web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6492240"/>
            <a:ext cx="4370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Segoe UI"/>
              </a:rPr>
              <a:t>Expone: Conrado Gómez    ·    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ase1_monolito_3cap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1911096" cy="3017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911096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FASE 1 · JUSTIFICACIÓN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94944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Segoe UI"/>
              </a:rPr>
              <a:t>¿Por qué alcanza para arrancar? ¿Cuáles son sus límites?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Segoe UI"/>
              </a:rPr>
              <a:t>El monolito como decisión deliberada, no como pecado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548640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56231"/>
            <a:ext cx="5029200" cy="54864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Segoe UI"/>
              </a:rPr>
              <a:t>SUFICIENTE PARA ARRANCAR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87168"/>
            <a:ext cx="4892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059669"/>
                </a:solidFill>
                <a:latin typeface="Segoe UI"/>
              </a:rPr>
              <a:t>●  </a:t>
            </a:r>
            <a:r>
              <a:rPr sz="1200" b="1">
                <a:solidFill>
                  <a:srgbClr val="0F172A"/>
                </a:solidFill>
                <a:latin typeface="Segoe UI"/>
              </a:rPr>
              <a:t>Costo y time-to-market mínimos</a:t>
            </a:r>
          </a:p>
          <a:p>
            <a:pPr algn="l">
              <a:lnSpc>
                <a:spcPct val="112000"/>
              </a:lnSpc>
            </a:pPr>
            <a:r>
              <a:rPr sz="1080" b="0">
                <a:solidFill>
                  <a:srgbClr val="334155"/>
                </a:solidFill>
                <a:latin typeface="Segoe UI"/>
              </a:rPr>
              <a:t>      Un solo despliegue, una base y un pipeline. Costo fijo USD 7–16/mes; se itera en sprints semanales.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10128"/>
            <a:ext cx="4892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059669"/>
                </a:solidFill>
                <a:latin typeface="Segoe UI"/>
              </a:rPr>
              <a:t>●  </a:t>
            </a:r>
            <a:r>
              <a:rPr sz="1200" b="1">
                <a:solidFill>
                  <a:srgbClr val="0F172A"/>
                </a:solidFill>
                <a:latin typeface="Segoe UI"/>
              </a:rPr>
              <a:t>Un solo lenguaje de punta a punta</a:t>
            </a:r>
          </a:p>
          <a:p>
            <a:pPr algn="l">
              <a:lnSpc>
                <a:spcPct val="112000"/>
              </a:lnSpc>
            </a:pPr>
            <a:r>
              <a:rPr sz="1080" b="0">
                <a:solidFill>
                  <a:srgbClr val="334155"/>
                </a:solidFill>
                <a:latin typeface="Segoe UI"/>
              </a:rPr>
              <a:t>      Node.js comparte ecosistema con el frontend (TypeScript full-stack): menos fricción, más velocidad.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33088"/>
            <a:ext cx="4892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059669"/>
                </a:solidFill>
                <a:latin typeface="Segoe UI"/>
              </a:rPr>
              <a:t>●  </a:t>
            </a:r>
            <a:r>
              <a:rPr sz="1200" b="1">
                <a:solidFill>
                  <a:srgbClr val="0F172A"/>
                </a:solidFill>
                <a:latin typeface="Segoe UI"/>
              </a:rPr>
              <a:t>Ideal para carga I/O-bound</a:t>
            </a:r>
          </a:p>
          <a:p>
            <a:pPr algn="l">
              <a:lnSpc>
                <a:spcPct val="112000"/>
              </a:lnSpc>
            </a:pPr>
            <a:r>
              <a:rPr sz="1080" b="0">
                <a:solidFill>
                  <a:srgbClr val="334155"/>
                </a:solidFill>
                <a:latin typeface="Segoe UI"/>
              </a:rPr>
              <a:t>      El sistema es 95% lecturas/escrituras, sin cómputo pesado: Express + Prisma rinde de sobra.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956048"/>
            <a:ext cx="4892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059669"/>
                </a:solidFill>
                <a:latin typeface="Segoe UI"/>
              </a:rPr>
              <a:t>●  </a:t>
            </a:r>
            <a:r>
              <a:rPr sz="1200" b="1">
                <a:solidFill>
                  <a:srgbClr val="0F172A"/>
                </a:solidFill>
                <a:latin typeface="Segoe UI"/>
              </a:rPr>
              <a:t>Modularidad intencional</a:t>
            </a:r>
          </a:p>
          <a:p>
            <a:pPr algn="l">
              <a:lnSpc>
                <a:spcPct val="112000"/>
              </a:lnSpc>
            </a:pPr>
            <a:r>
              <a:rPr sz="1080" b="0">
                <a:solidFill>
                  <a:srgbClr val="334155"/>
                </a:solidFill>
                <a:latin typeface="Segoe UI"/>
              </a:rPr>
              <a:t>      Los módulos ya tienen límites claros: son los futuros microservicios. Abarata la Fase 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91640"/>
            <a:ext cx="5468112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1856231"/>
            <a:ext cx="5010912" cy="54864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Segoe UI"/>
              </a:rPr>
              <a:t>SUS LÍMITES  (disparan la Fase 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87168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DC2626"/>
                </a:solidFill>
                <a:latin typeface="Segoe UI"/>
              </a:rPr>
              <a:t>●  </a:t>
            </a:r>
            <a:r>
              <a:rPr sz="1200" b="1">
                <a:solidFill>
                  <a:srgbClr val="0F172A"/>
                </a:solidFill>
                <a:latin typeface="Segoe UI"/>
              </a:rPr>
              <a:t>Solo escala vertical</a:t>
            </a:r>
          </a:p>
          <a:p>
            <a:pPr algn="l">
              <a:lnSpc>
                <a:spcPct val="110000"/>
              </a:lnSpc>
            </a:pPr>
            <a:r>
              <a:rPr sz="1080" b="0">
                <a:solidFill>
                  <a:srgbClr val="334155"/>
                </a:solidFill>
                <a:latin typeface="Segoe UI"/>
              </a:rPr>
              <a:t>      Un pico en Rutinas obliga a escalar TODO el monolito.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145536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DC2626"/>
                </a:solidFill>
                <a:latin typeface="Segoe UI"/>
              </a:rPr>
              <a:t>●  </a:t>
            </a:r>
            <a:r>
              <a:rPr sz="1200" b="1">
                <a:solidFill>
                  <a:srgbClr val="0F172A"/>
                </a:solidFill>
                <a:latin typeface="Segoe UI"/>
              </a:rPr>
              <a:t>Acoplamiento de despliegue</a:t>
            </a:r>
          </a:p>
          <a:p>
            <a:pPr algn="l">
              <a:lnSpc>
                <a:spcPct val="110000"/>
              </a:lnSpc>
            </a:pPr>
            <a:r>
              <a:rPr sz="1080" b="0">
                <a:solidFill>
                  <a:srgbClr val="334155"/>
                </a:solidFill>
                <a:latin typeface="Segoe UI"/>
              </a:rPr>
              <a:t>      Un deploy defectuoso de cualquier módulo tumba el sistema completo.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803904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DC2626"/>
                </a:solidFill>
                <a:latin typeface="Segoe UI"/>
              </a:rPr>
              <a:t>●  </a:t>
            </a:r>
            <a:r>
              <a:rPr sz="1200" b="1">
                <a:solidFill>
                  <a:srgbClr val="0F172A"/>
                </a:solidFill>
                <a:latin typeface="Segoe UI"/>
              </a:rPr>
              <a:t>Base única = riesgo concentrado</a:t>
            </a:r>
          </a:p>
          <a:p>
            <a:pPr algn="l">
              <a:lnSpc>
                <a:spcPct val="110000"/>
              </a:lnSpc>
            </a:pPr>
            <a:r>
              <a:rPr sz="1080" b="0">
                <a:solidFill>
                  <a:srgbClr val="334155"/>
                </a:solidFill>
                <a:latin typeface="Segoe UI"/>
              </a:rPr>
              <a:t>      Una query pesada de reportes degrada las operaciones transaccionales.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462272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DC2626"/>
                </a:solidFill>
                <a:latin typeface="Segoe UI"/>
              </a:rPr>
              <a:t>●  </a:t>
            </a:r>
            <a:r>
              <a:rPr sz="1200" b="1">
                <a:solidFill>
                  <a:srgbClr val="0F172A"/>
                </a:solidFill>
                <a:latin typeface="Segoe UI"/>
              </a:rPr>
              <a:t>Cuello de botella de equipos</a:t>
            </a:r>
          </a:p>
          <a:p>
            <a:pPr algn="l">
              <a:lnSpc>
                <a:spcPct val="110000"/>
              </a:lnSpc>
            </a:pPr>
            <a:r>
              <a:rPr sz="1080" b="0">
                <a:solidFill>
                  <a:srgbClr val="334155"/>
                </a:solidFill>
                <a:latin typeface="Segoe UI"/>
              </a:rPr>
              <a:t>      Varios equipos generan merge conflicts y releases que coordinar.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120640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DC2626"/>
                </a:solidFill>
                <a:latin typeface="Segoe UI"/>
              </a:rPr>
              <a:t>●  </a:t>
            </a:r>
            <a:r>
              <a:rPr sz="1200" b="1">
                <a:solidFill>
                  <a:srgbClr val="0F172A"/>
                </a:solidFill>
                <a:latin typeface="Segoe UI"/>
              </a:rPr>
              <a:t>Sin alta disponibilidad</a:t>
            </a:r>
          </a:p>
          <a:p>
            <a:pPr algn="l">
              <a:lnSpc>
                <a:spcPct val="110000"/>
              </a:lnSpc>
            </a:pPr>
            <a:r>
              <a:rPr sz="1080" b="0">
                <a:solidFill>
                  <a:srgbClr val="334155"/>
                </a:solidFill>
                <a:latin typeface="Segoe UI"/>
              </a:rPr>
              <a:t>      Render/Railway no ofrecen autoscaling granular ni SLAs.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37376"/>
            <a:ext cx="1118311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TrainerOS — TFI Desarrollo de Aplicaciones Web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6492240"/>
            <a:ext cx="4370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Segoe UI"/>
              </a:rPr>
              <a:t>Expone: Nicolás Zyngale    ·    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2299716" cy="30175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2299716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FASE 2 · CAMBIO DE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94944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Segoe UI"/>
              </a:rPr>
              <a:t>El negocio fuerza la evolución a microservicios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Segoe UI"/>
              </a:rPr>
              <a:t>12 meses después: convenios B2B con dos cadenas regionales de gimnasios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11183112" cy="8686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48463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De</a:t>
            </a:r>
            <a:r>
              <a:rPr sz="1700" b="1">
                <a:solidFill>
                  <a:srgbClr val="FFFFFF"/>
                </a:solidFill>
                <a:latin typeface="Segoe UI"/>
              </a:rPr>
              <a:t>   100 entrenadores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monolito · ~5.000 alumnos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691640"/>
            <a:ext cx="10972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059669"/>
                </a:solidFill>
                <a:latin typeface="Segoe U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A</a:t>
            </a:r>
            <a:r>
              <a:rPr sz="1700" b="1">
                <a:solidFill>
                  <a:srgbClr val="059669"/>
                </a:solidFill>
                <a:latin typeface="Segoe UI"/>
              </a:rPr>
              <a:t>   5.000 entrenadores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~120.000 alumnos activos · equipos independientes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43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Segoe UI"/>
              </a:rPr>
              <a:t>Tres presiones que el monolito no resuelve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00400"/>
            <a:ext cx="3630168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3172968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358444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58444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Segoe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24528"/>
            <a:ext cx="308152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Picos de tráfico violentos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4155"/>
                </a:solidFill>
                <a:latin typeface="Segoe UI"/>
              </a:rPr>
              <a:t>De 18 a 21 h los alumnos consultan su rutina desde el gimnasio (lecturas masivas) mientras los entrenadores planifican. Los lunes el pico se triplica.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9392" y="3200400"/>
            <a:ext cx="3630168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07992" y="3383280"/>
            <a:ext cx="3172968" cy="5486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53712" y="358444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358444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4F46E5"/>
                </a:solidFill>
                <a:latin typeface="Segoe U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4224528"/>
            <a:ext cx="308152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Equipos independientes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4155"/>
                </a:solidFill>
                <a:latin typeface="Segoe UI"/>
              </a:rPr>
              <a:t>La empresa crece a tres equipos (Core de rutinas, Pagos/B2B, Experiencia del alumno) que necesitan desplegar sin coordinarse.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55864" y="3200400"/>
            <a:ext cx="3630168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84464" y="3383280"/>
            <a:ext cx="3172968" cy="5486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30184" y="358444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358444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7C3AED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4" y="4224528"/>
            <a:ext cx="308152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Requisitos B2B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4155"/>
                </a:solidFill>
                <a:latin typeface="Segoe UI"/>
              </a:rPr>
              <a:t>Las cadenas exigen SLA de disponibilidad, facturación consolidada y notificaciones masivas que no pueden competir por recursos con el flujo crítico.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437376"/>
            <a:ext cx="1118311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TrainerOS — TFI Desarrollo de Aplicaciones Web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6492240"/>
            <a:ext cx="4370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Segoe UI"/>
              </a:rPr>
              <a:t>Expone: Matías Saravia    ·    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ase2a_microservicios_tradicion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ase2b_microservicios_modern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1522476" cy="30175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522476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FASE 2 · PATRONES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94944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Segoe UI"/>
              </a:rPr>
              <a:t>Patrones aplicados y su justificación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Segoe UI"/>
              </a:rPr>
              <a:t>Cada patrón responde a un problema concreto del negocio — no se usa “porque sí”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11183112" cy="384048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2468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PATRÓN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783080"/>
            <a:ext cx="3840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DÓNDE SE APLICA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783080"/>
            <a:ext cx="4343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POR QUÉ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67128"/>
            <a:ext cx="1118311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67128"/>
            <a:ext cx="64008" cy="67665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167128"/>
            <a:ext cx="24688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Segoe UI"/>
              </a:rPr>
              <a:t>API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167128"/>
            <a:ext cx="38404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334155"/>
                </a:solidFill>
                <a:latin typeface="Segoe UI"/>
              </a:rPr>
              <a:t>Punto único de entrada (Kong / Cloud Endpoints)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167128"/>
            <a:ext cx="43434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334155"/>
                </a:solidFill>
                <a:latin typeface="Segoe UI"/>
              </a:rPr>
              <a:t>Centraliza JWT, rate limiting y versionado; los clientes no conocen la topología interna.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43784"/>
            <a:ext cx="11183112" cy="67665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843784"/>
            <a:ext cx="64008" cy="676656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2843784"/>
            <a:ext cx="24688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Segoe UI"/>
              </a:rPr>
              <a:t>Database per 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2843784"/>
            <a:ext cx="38404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334155"/>
                </a:solidFill>
                <a:latin typeface="Segoe UI"/>
              </a:rPr>
              <a:t>Cada microservicio con su propia 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843784"/>
            <a:ext cx="43434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334155"/>
                </a:solidFill>
                <a:latin typeface="Segoe UI"/>
              </a:rPr>
              <a:t>Autonomía de esquema y de despliegue; evita el acoplamiento por datos.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520440"/>
            <a:ext cx="1118311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520440"/>
            <a:ext cx="64008" cy="67665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3520440"/>
            <a:ext cx="24688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Segoe UI"/>
              </a:rPr>
              <a:t>Pub/Sub (eventos)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3520440"/>
            <a:ext cx="38404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334155"/>
                </a:solidFill>
                <a:latin typeface="Segoe UI"/>
              </a:rPr>
              <a:t>Rutinas y Pagos publican; Notif./Analytics/Query suscriben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520440"/>
            <a:ext cx="43434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334155"/>
                </a:solidFill>
                <a:latin typeface="Segoe UI"/>
              </a:rPr>
              <a:t>Desacopla en el tiempo: una caída no se propaga; los eventos se reintentan.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197096"/>
            <a:ext cx="11183112" cy="67665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197096"/>
            <a:ext cx="64008" cy="67665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4197096"/>
            <a:ext cx="24688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59669"/>
                </a:solidFill>
                <a:latin typeface="Segoe UI"/>
              </a:rPr>
              <a:t>CQRS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4197096"/>
            <a:ext cx="38404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334155"/>
                </a:solidFill>
                <a:latin typeface="Segoe UI"/>
              </a:rPr>
              <a:t>Escritura (Rutinas) vs. lectura (Query, vista materializada)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4197096"/>
            <a:ext cx="43434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334155"/>
                </a:solidFill>
                <a:latin typeface="Segoe UI"/>
              </a:rPr>
              <a:t>Carga asimétrica: miles leen, pocos escriben. Se optimiza cada lado por separado.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873752"/>
            <a:ext cx="1118311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4873752"/>
            <a:ext cx="64008" cy="67665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4873752"/>
            <a:ext cx="24688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Segoe UI"/>
              </a:rPr>
              <a:t>Saga (orquestada)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4873752"/>
            <a:ext cx="38404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334155"/>
                </a:solidFill>
                <a:latin typeface="Segoe UI"/>
              </a:rPr>
              <a:t>Cobro: pago → confirmación → membresía → notificación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873752"/>
            <a:ext cx="43434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334155"/>
                </a:solidFill>
                <a:latin typeface="Segoe UI"/>
              </a:rPr>
              <a:t>Sin transacciones distribuidas: consistencia eventual con compensaciones (rollback).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550408"/>
            <a:ext cx="11183112" cy="67665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5550408"/>
            <a:ext cx="64008" cy="67665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5550408"/>
            <a:ext cx="24688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Segoe UI"/>
              </a:rPr>
              <a:t>Circuit Breaker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46120" y="5550408"/>
            <a:ext cx="38404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334155"/>
                </a:solidFill>
                <a:latin typeface="Segoe UI"/>
              </a:rPr>
              <a:t>Llamadas síncronas residuales (pasarela de pago externa)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60" y="5550408"/>
            <a:ext cx="43434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334155"/>
                </a:solidFill>
                <a:latin typeface="Segoe UI"/>
              </a:rPr>
              <a:t>Evita el efecto dominó: ante fallos abre el circuito y responde con fallback.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437376"/>
            <a:ext cx="1118311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TrainerOS — TFI Desarrollo de Aplicaciones Web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6492240"/>
            <a:ext cx="4370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Segoe UI"/>
              </a:rPr>
              <a:t>Expone: Lautaro Naglieri    ·    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olucion_3_arquitectu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