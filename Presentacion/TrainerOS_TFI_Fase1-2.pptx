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BFDBFE"/>
                </a:solidFill>
                <a:latin typeface="Segoe UI"/>
              </a:rPr>
              <a:t>TRABAJO FINAL INTEGRADOR  ·  DESARROLLO DE APLICACIONES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Segoe UI"/>
              </a:rPr>
              <a:t>TrainerOS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>
                <a:solidFill>
                  <a:srgbClr val="BFDBFE"/>
                </a:solidFill>
                <a:latin typeface="Segoe UI"/>
              </a:rPr>
              <a:t>Plataforma SaaS de gestión para entrenadores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01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Segoe UI"/>
              </a:rPr>
              <a:t>“Del Código a la Arquitectura: El Criterio del Desarrollador”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14800"/>
            <a:ext cx="1056132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7939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Defensa de arquitectura — Fases 1 y 2</a:t>
            </a:r>
          </a:p>
          <a:p>
            <a:pPr algn="l"/>
            <a:r>
              <a:rPr sz="1250" b="0">
                <a:solidFill>
                  <a:srgbClr val="BFDBFE"/>
                </a:solidFill>
                <a:latin typeface="Segoe UI"/>
              </a:rPr>
              <a:t>Fase 1: Monolito modular en 3 capas   </a:t>
            </a:r>
            <a:r>
              <a:rPr sz="1250" b="1">
                <a:solidFill>
                  <a:srgbClr val="059669"/>
                </a:solidFill>
                <a:latin typeface="Segoe UI"/>
              </a:rPr>
              <a:t>→   </a:t>
            </a:r>
            <a:r>
              <a:rPr sz="1250" b="0">
                <a:solidFill>
                  <a:srgbClr val="BFDBFE"/>
                </a:solidFill>
                <a:latin typeface="Segoe UI"/>
              </a:rPr>
              <a:t>Fase 2: Microservicios tradicionales y modernos (event-driven)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94A3B8"/>
                </a:solidFill>
                <a:latin typeface="Segoe UI"/>
              </a:rPr>
              <a:t>Equipo MMP-SOFTWARE</a:t>
            </a:r>
          </a:p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Conrado Gómez · Nicolás Zyngale · Matías Saravia · Lautaro Naglieri · Pablo Czurylo · Leandro Gramajo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822960" cy="301752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Segoe UI"/>
              </a:rPr>
              <a:t>El problema y el modelo de negocio</a:t>
            </a:r>
          </a:p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Por qué existe TrainerOS y cómo gana dinero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406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73152" cy="20574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Segoe UI"/>
              </a:rPr>
              <a:t>EL PROBLEMA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Segoe UI"/>
              </a:rPr>
              <a:t>Los entrenadores gestionan decenas de alumnos con </a:t>
            </a:r>
            <a:r>
              <a:rPr sz="1300" b="1">
                <a:solidFill>
                  <a:srgbClr val="0F172A"/>
                </a:solidFill>
                <a:latin typeface="Segoe UI"/>
              </a:rPr>
              <a:t>planillas de Excel y mensajes de WhatsApp</a:t>
            </a:r>
            <a:r>
              <a:rPr sz="1300" b="0">
                <a:solidFill>
                  <a:srgbClr val="334155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Resultado: caos logístico, rutinas desactualizadas y pérdida de control sobre los cobros de membresías.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2239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73152" cy="20574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74519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MODELO DE NEGOCIO — SaaS B2B2C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Suscripción mensual por entrenador</a:t>
            </a:r>
            <a:r>
              <a:rPr sz="1300" b="0">
                <a:solidFill>
                  <a:srgbClr val="334155"/>
                </a:solidFill>
                <a:latin typeface="Segoe UI"/>
              </a:rPr>
              <a:t> (multitenant). El entrenador paga la herramienta; sus alumnos acceden gratis a un panel móvil.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Cada entrenador es un </a:t>
            </a:r>
            <a:r>
              <a:rPr sz="1300" b="1">
                <a:solidFill>
                  <a:srgbClr val="0F172A"/>
                </a:solidFill>
                <a:latin typeface="Segoe UI"/>
              </a:rPr>
              <a:t>tenant aislado</a:t>
            </a:r>
            <a:r>
              <a:rPr sz="1300" b="0">
                <a:solidFill>
                  <a:srgbClr val="334155"/>
                </a:solidFill>
                <a:latin typeface="Segoe UI"/>
              </a:rPr>
              <a:t>: sus datos nunca se cruzan con los de otro.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6110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Segoe UI"/>
              </a:rPr>
              <a:t>Funcionalidades del MVP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81728"/>
            <a:ext cx="2706624" cy="132588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587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4828032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992624"/>
            <a:ext cx="23408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Auth con Google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Identidad y acceso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0984" y="4681728"/>
            <a:ext cx="2706624" cy="1325880"/>
          </a:xfrm>
          <a:prstGeom prst="roundRect">
            <a:avLst>
              <a:gd name="adj" fmla="val 7000"/>
            </a:avLst>
          </a:prstGeom>
          <a:solidFill>
            <a:srgbClr val="EEF2FF"/>
          </a:solidFill>
          <a:ln w="1587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65576" y="4828032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83864" y="4992624"/>
            <a:ext cx="23408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Constructor de rutinas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Desde catálogo de ejercicios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9048" y="4681728"/>
            <a:ext cx="2706624" cy="132588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1587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4828032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4992624"/>
            <a:ext cx="23408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Panel móvil del alumno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Rutina del día y progreso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4681728"/>
            <a:ext cx="2706624" cy="132588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587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61704" y="4828032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9992" y="4992624"/>
            <a:ext cx="23408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Control de pagos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Membresías y alertas de venc.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437376"/>
            <a:ext cx="11183112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Segoe UI"/>
              </a:rPr>
              <a:t>TrainerOS — TFI Desarrollo de Aplicaciones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649224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Segoe UI"/>
              </a:rPr>
              <a:t>Expone: Conrado Gómez    · 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1_monolito_3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1911096" cy="30175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911096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FASE 1 · JUSTIFICACIÓN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Segoe UI"/>
              </a:rPr>
              <a:t>¿Por qué alcanza para arrancar? ¿Cuáles son sus límites?</a:t>
            </a:r>
          </a:p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El monolito como decisión deliberada, no como pecado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864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56231"/>
            <a:ext cx="5029200" cy="548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Segoe UI"/>
              </a:rPr>
              <a:t>SUFICIENTE PARA ARRANCAR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892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Costo y time-to-market mínimos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Un solo despliegue, una base y un pipeline. Costo fijo USD 7–16/mes; se itera en sprints semanales.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4892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Un solo lenguaje de punta a punta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Node.js comparte ecosistema con el frontend (TypeScript full-stack): menos fricción, más velocidad.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8"/>
            <a:ext cx="4892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Ideal para carga I/O-bound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El sistema es 95% lecturas/escrituras, sin cómputo pesado: Express + Prisma rinde de sobra.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56048"/>
            <a:ext cx="4892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Modularidad intencional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Los módulos ya tienen límites claros: son los futuros microservicios. Abarata la Fase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468112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1856231"/>
            <a:ext cx="5010912" cy="5486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Segoe UI"/>
              </a:rPr>
              <a:t>SUS LÍMITES  (disparan la Fase 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48716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Solo escala vertical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Un pico en Rutinas obliga a escalar TODO el monolito.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145536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Acoplamiento de despliegue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Un deploy defectuoso de cualquier módulo tumba el sistema completo.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03904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Base única = riesgo concentrado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Una query pesada de reportes degrada las operaciones transaccionales.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462272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Cuello de botella de equipos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Varios equipos generan merge conflicts y releases que coordinar.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12064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DC2626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Sin alta disponibilidad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334155"/>
                </a:solidFill>
                <a:latin typeface="Segoe UI"/>
              </a:rPr>
              <a:t>      Render/Railway no ofrecen autoscaling granular ni SLAs.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37376"/>
            <a:ext cx="11183112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Segoe UI"/>
              </a:rPr>
              <a:t>TrainerOS — TFI Desarrollo de Aplicaciones 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649224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Segoe UI"/>
              </a:rPr>
              <a:t>Expone: Nicolás Zyngale    · 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2299716" cy="30175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2299716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FASE 2 · CAMBIO DE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Segoe UI"/>
              </a:rPr>
              <a:t>El negocio fuerza la evolución a microservicios</a:t>
            </a:r>
          </a:p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12 meses después: convenios B2B con dos cadenas regionales de gimnasios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3112" cy="868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4846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De</a:t>
            </a:r>
            <a:r>
              <a:rPr sz="1700" b="1">
                <a:solidFill>
                  <a:srgbClr val="FFFFFF"/>
                </a:solidFill>
                <a:latin typeface="Segoe UI"/>
              </a:rPr>
              <a:t>   100 entrenadores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monolito · ~5.000 alumnos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691640"/>
            <a:ext cx="1097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59669"/>
                </a:solidFill>
                <a:latin typeface="Segoe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5029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</a:t>
            </a:r>
            <a:r>
              <a:rPr sz="1700" b="1">
                <a:solidFill>
                  <a:srgbClr val="059669"/>
                </a:solidFill>
                <a:latin typeface="Segoe UI"/>
              </a:rPr>
              <a:t>   5.000 entrenadores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~120.000 alumnos activos · equipos independientes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72A"/>
                </a:solidFill>
                <a:latin typeface="Segoe UI"/>
              </a:rPr>
              <a:t>Tres presiones que el monolito no resuelve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00400"/>
            <a:ext cx="363016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3172968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584448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844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24528"/>
            <a:ext cx="3081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Picos de tráfico violentos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4155"/>
                </a:solidFill>
                <a:latin typeface="Segoe UI"/>
              </a:rPr>
              <a:t>De 18 a 21 h los alumnos consultan su rutina desde el gimnasio (lecturas masivas) mientras los entrenadores planifican. Los lunes el pico se triplica.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3200400"/>
            <a:ext cx="363016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07992" y="3383280"/>
            <a:ext cx="3172968" cy="5486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584448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35844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4F46E5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4224528"/>
            <a:ext cx="3081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Equipos independientes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4155"/>
                </a:solidFill>
                <a:latin typeface="Segoe UI"/>
              </a:rPr>
              <a:t>La empresa crece a tres equipos (Core de rutinas, Pagos/B2B, Experiencia del alumno) que necesitan desplegar sin coordinarse.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200400"/>
            <a:ext cx="363016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4464" y="3383280"/>
            <a:ext cx="3172968" cy="5486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30184" y="3584448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0184" y="35844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7C3AED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4224528"/>
            <a:ext cx="3081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Requisitos B2B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4155"/>
                </a:solidFill>
                <a:latin typeface="Segoe UI"/>
              </a:rPr>
              <a:t>Las cadenas exigen SLA de disponibilidad, facturación consolidada y notificaciones masivas que no pueden competir por recursos con el flujo crítico.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437376"/>
            <a:ext cx="11183112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Segoe UI"/>
              </a:rPr>
              <a:t>TrainerOS — TFI Desarrollo de Aplicaciones Web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649224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Segoe UI"/>
              </a:rPr>
              <a:t>Expone: Matías Saravia    · 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a_microservicios_tradicio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b_microservicios_moder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84048"/>
            <a:ext cx="1522476" cy="30175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522476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FASE 2 · PATRONES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Segoe UI"/>
              </a:rPr>
              <a:t>Patrones aplicados y su justificación</a:t>
            </a:r>
          </a:p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Cada patrón responde a un problema concreto del negocio — no se usa “porque sí”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PATRÓN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783080"/>
            <a:ext cx="3840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DÓNDE SE APLICA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8308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POR QUÉ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67128"/>
            <a:ext cx="1118311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67128"/>
            <a:ext cx="64008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167128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  <a:latin typeface="Segoe UI"/>
              </a:rPr>
              <a:t>API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167128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Punto único de entrada (Kong / Cloud Endpoints)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16712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Centraliza JWT, rate limiting y versionado; los clientes no conocen la topología interna.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843784"/>
            <a:ext cx="11183112" cy="67665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843784"/>
            <a:ext cx="64008" cy="676656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843784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Segoe UI"/>
              </a:rPr>
              <a:t>Database per 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843784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Cada microservicio con su propia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84378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Autonomía de esquema y de despliegue; evita el acoplamiento por datos.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20440"/>
            <a:ext cx="1118311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520440"/>
            <a:ext cx="64008" cy="67665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520440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Segoe UI"/>
              </a:rPr>
              <a:t>Pub/Sub (eventos)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520440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Rutinas y Pagos publican; Notif./Analytics/Query suscriben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52044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Desacopla en el tiempo: una caída no se propaga; los eventos se reintentan.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97096"/>
            <a:ext cx="11183112" cy="67665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197096"/>
            <a:ext cx="64008" cy="67665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4197096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Segoe UI"/>
              </a:rPr>
              <a:t>CQRS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197096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Escritura (Rutinas) vs. lectura (Query, vista materializada)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19709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Carga asimétrica: miles leen, pocos escriben. Se optimiza cada lado por separado.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873752"/>
            <a:ext cx="1118311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873752"/>
            <a:ext cx="64008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873752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Segoe UI"/>
              </a:rPr>
              <a:t>Saga (orquestada)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3752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Cobro: pago → confirmación → membresía → notificación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87375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Sin transacciones distribuidas: consistencia eventual con compensaciones (rollback).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550408"/>
            <a:ext cx="11183112" cy="67665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550408"/>
            <a:ext cx="64008" cy="67665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5550408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Segoe UI"/>
              </a:rPr>
              <a:t>Circuit Breaker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550408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Llamadas síncronas residuales (pasarela de pago externa)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55040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34155"/>
                </a:solidFill>
                <a:latin typeface="Segoe UI"/>
              </a:rPr>
              <a:t>Evita el efecto dominó: ante fallos abre el circuito y responde con fallback.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437376"/>
            <a:ext cx="11183112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Segoe UI"/>
              </a:rPr>
              <a:t>TrainerOS — TFI Desarrollo de Aplicaciones Web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649224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Segoe UI"/>
              </a:rPr>
              <a:t>Expone: Lautaro Naglieri    · 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olucion_3_arquitectu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