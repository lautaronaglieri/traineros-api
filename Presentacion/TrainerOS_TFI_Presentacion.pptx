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7259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Segoe UI"/>
              </a:rPr>
              <a:t>TrainerOS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18688"/>
            <a:ext cx="107259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E8741E"/>
                </a:solidFill>
                <a:latin typeface="Segoe UI"/>
              </a:rPr>
              <a:t>“Del Código a la Arquitectura: El Criterio del Desarrollador”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22191"/>
            <a:ext cx="107259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D6E0EA"/>
                </a:solidFill>
                <a:latin typeface="Segoe UI"/>
              </a:rPr>
              <a:t>Plataforma SaaS de gestión para entrenadores personales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434840"/>
            <a:ext cx="12191695" cy="41148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725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AEBFCE"/>
                </a:solidFill>
                <a:latin typeface="Segoe UI"/>
              </a:rPr>
              <a:t>Evolución arquitectónica en 5 fases: del monolito modular a los microservicios event-driven, la escala y la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59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TFI · Desarrollo de Aplicaciones Web · Grupo VOX</a:t>
            </a:r>
          </a:p>
          <a:p>
            <a:pPr algn="ctr"/>
            <a:r>
              <a:rPr sz="1050" b="0">
                <a:solidFill>
                  <a:srgbClr val="AEBFCE"/>
                </a:solidFill>
                <a:latin typeface="Segoe UI"/>
              </a:rPr>
              <a:t>Conrado Gómez   ·   Nicolás Zyngale   ·   Matías Saravia   ·   Lautaro Naglieri   ·   Pablo Czurylo   ·   Leandro Gramajo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Segoe UI"/>
              </a:rPr>
              <a:t>El problema y el modelo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7A7A7A"/>
                </a:solidFill>
                <a:latin typeface="Segoe UI"/>
              </a:rPr>
              <a:t>Por qué existe TrainerOS y cómo gana dinero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5440680" cy="219456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937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  <a:latin typeface="Segoe UI"/>
              </a:rPr>
              <a:t>EL PROBLEMA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50" b="0">
                <a:solidFill>
                  <a:srgbClr val="404040"/>
                </a:solidFill>
                <a:latin typeface="Segoe UI"/>
              </a:rPr>
              <a:t>Los entrenadores gestionan decenas de alumnos con </a:t>
            </a:r>
            <a:r>
              <a:rPr sz="1350" b="1">
                <a:solidFill>
                  <a:srgbClr val="E8741E"/>
                </a:solidFill>
                <a:latin typeface="Segoe UI"/>
              </a:rPr>
              <a:t>planillas de Excel y mensajes de WhatsApp</a:t>
            </a:r>
            <a:r>
              <a:rPr sz="1350" b="0">
                <a:solidFill>
                  <a:srgbClr val="404040"/>
                </a:solidFill>
                <a:latin typeface="Segoe UI"/>
              </a:rPr>
              <a:t>.</a:t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404040"/>
                </a:solidFill>
                <a:latin typeface="Segoe UI"/>
              </a:rPr>
              <a:t>Caos logístico, rutinas desactualizadas y pérdida de control sobre los cobros de membresías.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783080"/>
            <a:ext cx="5285232" cy="219456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011680"/>
            <a:ext cx="4800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  <a:latin typeface="Segoe UI"/>
              </a:rPr>
              <a:t>MODELO DE NEGOCIO — SaaS B2B2C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50" b="1">
                <a:solidFill>
                  <a:srgbClr val="E8741E"/>
                </a:solidFill>
                <a:latin typeface="Segoe UI"/>
              </a:rPr>
              <a:t>Suscripción mensual por entrenador</a:t>
            </a:r>
            <a:r>
              <a:rPr sz="1350" b="0">
                <a:solidFill>
                  <a:srgbClr val="404040"/>
                </a:solidFill>
                <a:latin typeface="Segoe UI"/>
              </a:rPr>
              <a:t> (multitenant). El entrenador paga; sus alumnos usan gratis un panel móvil.</a:t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404040"/>
                </a:solidFill>
                <a:latin typeface="Segoe UI"/>
              </a:rPr>
              <a:t>Cada entrenador es un tenant aislado: sus datos nunca se cruzan con los de otro.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245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Segoe UI"/>
              </a:rPr>
              <a:t>Funcionalidades del MVP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663440"/>
            <a:ext cx="2706624" cy="123444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663440"/>
            <a:ext cx="64008" cy="1234440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882896"/>
            <a:ext cx="232257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Segoe UI"/>
              </a:rPr>
              <a:t>Auth con Google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7A7A"/>
                </a:solidFill>
                <a:latin typeface="Segoe UI"/>
              </a:rPr>
              <a:t>Identidad y acceso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5400" y="4663440"/>
            <a:ext cx="2706624" cy="123444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5400" y="4663440"/>
            <a:ext cx="64008" cy="1234440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4856" y="4882896"/>
            <a:ext cx="232257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Segoe UI"/>
              </a:rPr>
              <a:t>Constructor de rutinas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7A7A"/>
                </a:solidFill>
                <a:latin typeface="Segoe UI"/>
              </a:rPr>
              <a:t>Sobre catálogo de ejercicios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0721" y="4663440"/>
            <a:ext cx="2706624" cy="123444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0721" y="4663440"/>
            <a:ext cx="64008" cy="1234440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0177" y="4882896"/>
            <a:ext cx="232257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Segoe UI"/>
              </a:rPr>
              <a:t>Panel móvil del alumno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7A7A"/>
                </a:solidFill>
                <a:latin typeface="Segoe UI"/>
              </a:rPr>
              <a:t>Rutina del día y progreso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6042" y="4663440"/>
            <a:ext cx="2706624" cy="123444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26042" y="4663440"/>
            <a:ext cx="64008" cy="1234440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5498" y="4882896"/>
            <a:ext cx="232257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Segoe UI"/>
              </a:rPr>
              <a:t>Control de pagos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7A7A"/>
                </a:solidFill>
                <a:latin typeface="Segoe UI"/>
              </a:rPr>
              <a:t>Membresías y alertas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6437376"/>
            <a:ext cx="5742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6B2"/>
                </a:solidFill>
                <a:latin typeface="Segoe UI"/>
              </a:rPr>
              <a:t>2 / 11   ·   Expone: Conrado Gómez   ·   1:00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ase1_monolito_3cap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214" y="201168"/>
            <a:ext cx="9400522" cy="6309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6437376"/>
            <a:ext cx="5742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6B2"/>
                </a:solidFill>
                <a:latin typeface="Segoe UI"/>
              </a:rPr>
              <a:t>3 / 11   ·   Expone: Nicolás Zyngale   ·   0:50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Segoe UI"/>
              </a:rPr>
              <a:t>¿Por qué alcanza para arrancar? ¿Cuáles son sus límites?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7A7A7A"/>
                </a:solidFill>
                <a:latin typeface="Segoe UI"/>
              </a:rPr>
              <a:t>El monolito como decisión deliberada, no como pecado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5394960" cy="416052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5394960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F4E79"/>
                </a:solidFill>
                <a:latin typeface="Segoe UI"/>
              </a:rPr>
              <a:t>POR QUÉ ALCANZA PARA ARRANCAR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F4E79"/>
                </a:solidFill>
                <a:latin typeface="Segoe UI"/>
              </a:rPr>
              <a:t>■  </a:t>
            </a:r>
            <a:r>
              <a:rPr sz="1200" b="1">
                <a:solidFill>
                  <a:srgbClr val="404040"/>
                </a:solidFill>
                <a:latin typeface="Segoe UI"/>
              </a:rPr>
              <a:t>Costo y time-to-market mínimos</a:t>
            </a:r>
          </a:p>
          <a:p>
            <a:pPr algn="l">
              <a:lnSpc>
                <a:spcPct val="112000"/>
              </a:lnSpc>
            </a:pPr>
            <a:r>
              <a:rPr sz="1080" b="0">
                <a:solidFill>
                  <a:srgbClr val="7A7A7A"/>
                </a:solidFill>
                <a:latin typeface="Segoe UI"/>
              </a:rPr>
              <a:t>      Un deploy, una base y un pipeline. USD 7–16/mes; sprints semanales.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79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F4E79"/>
                </a:solidFill>
                <a:latin typeface="Segoe UI"/>
              </a:rPr>
              <a:t>■  </a:t>
            </a:r>
            <a:r>
              <a:rPr sz="1200" b="1">
                <a:solidFill>
                  <a:srgbClr val="404040"/>
                </a:solidFill>
                <a:latin typeface="Segoe UI"/>
              </a:rPr>
              <a:t>Un solo lenguaje de punta a punta</a:t>
            </a:r>
          </a:p>
          <a:p>
            <a:pPr algn="l">
              <a:lnSpc>
                <a:spcPct val="112000"/>
              </a:lnSpc>
            </a:pPr>
            <a:r>
              <a:rPr sz="1080" b="0">
                <a:solidFill>
                  <a:srgbClr val="7A7A7A"/>
                </a:solidFill>
                <a:latin typeface="Segoe UI"/>
              </a:rPr>
              <a:t>      Node.js comparte ecosistema con el frontend (TypeScript full-stack).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24528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F4E79"/>
                </a:solidFill>
                <a:latin typeface="Segoe UI"/>
              </a:rPr>
              <a:t>■  </a:t>
            </a:r>
            <a:r>
              <a:rPr sz="1200" b="1">
                <a:solidFill>
                  <a:srgbClr val="404040"/>
                </a:solidFill>
                <a:latin typeface="Segoe UI"/>
              </a:rPr>
              <a:t>Ideal para carga I/O-bound</a:t>
            </a:r>
          </a:p>
          <a:p>
            <a:pPr algn="l">
              <a:lnSpc>
                <a:spcPct val="112000"/>
              </a:lnSpc>
            </a:pPr>
            <a:r>
              <a:rPr sz="1080" b="0">
                <a:solidFill>
                  <a:srgbClr val="7A7A7A"/>
                </a:solidFill>
                <a:latin typeface="Segoe UI"/>
              </a:rPr>
              <a:t>      95% lecturas/escrituras, sin cómputo pesado: Express + Prisma rinde.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65776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1F4E79"/>
                </a:solidFill>
                <a:latin typeface="Segoe UI"/>
              </a:rPr>
              <a:t>■  </a:t>
            </a:r>
            <a:r>
              <a:rPr sz="1200" b="1">
                <a:solidFill>
                  <a:srgbClr val="404040"/>
                </a:solidFill>
                <a:latin typeface="Segoe UI"/>
              </a:rPr>
              <a:t>Modularidad intencional</a:t>
            </a:r>
          </a:p>
          <a:p>
            <a:pPr algn="l">
              <a:lnSpc>
                <a:spcPct val="112000"/>
              </a:lnSpc>
            </a:pPr>
            <a:r>
              <a:rPr sz="1080" b="0">
                <a:solidFill>
                  <a:srgbClr val="7A7A7A"/>
                </a:solidFill>
                <a:latin typeface="Segoe UI"/>
              </a:rPr>
              <a:t>      Los módulos ya son los futuros microservicios. Abarata la Fase 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5376672" cy="416052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783080"/>
            <a:ext cx="5376672" cy="82296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C75F12"/>
                </a:solidFill>
                <a:latin typeface="Segoe UI"/>
              </a:rPr>
              <a:t>SUS LÍMITES  (disparan la Fase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42032"/>
            <a:ext cx="48463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>
                <a:solidFill>
                  <a:srgbClr val="E8741E"/>
                </a:solidFill>
                <a:latin typeface="Segoe UI"/>
              </a:rPr>
              <a:t>■  </a:t>
            </a:r>
            <a:r>
              <a:rPr sz="1200" b="1">
                <a:solidFill>
                  <a:srgbClr val="404040"/>
                </a:solidFill>
                <a:latin typeface="Segoe UI"/>
              </a:rPr>
              <a:t>Solo escala vertical</a:t>
            </a:r>
          </a:p>
          <a:p>
            <a:pPr algn="l">
              <a:lnSpc>
                <a:spcPct val="110000"/>
              </a:lnSpc>
            </a:pPr>
            <a:r>
              <a:rPr sz="1080" b="0">
                <a:solidFill>
                  <a:srgbClr val="7A7A7A"/>
                </a:solidFill>
                <a:latin typeface="Segoe UI"/>
              </a:rPr>
              <a:t>      Un pico en Rutinas obliga a escalar todo el monolito.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14115"/>
            <a:ext cx="48463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>
                <a:solidFill>
                  <a:srgbClr val="E8741E"/>
                </a:solidFill>
                <a:latin typeface="Segoe UI"/>
              </a:rPr>
              <a:t>■  </a:t>
            </a:r>
            <a:r>
              <a:rPr sz="1200" b="1">
                <a:solidFill>
                  <a:srgbClr val="404040"/>
                </a:solidFill>
                <a:latin typeface="Segoe UI"/>
              </a:rPr>
              <a:t>Acoplamiento de despliegue</a:t>
            </a:r>
          </a:p>
          <a:p>
            <a:pPr algn="l">
              <a:lnSpc>
                <a:spcPct val="110000"/>
              </a:lnSpc>
            </a:pPr>
            <a:r>
              <a:rPr sz="1080" b="0">
                <a:solidFill>
                  <a:srgbClr val="7A7A7A"/>
                </a:solidFill>
                <a:latin typeface="Segoe UI"/>
              </a:rPr>
              <a:t>      Un deploy defectuoso de un módulo tumba todo el sistema.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886200"/>
            <a:ext cx="48463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>
                <a:solidFill>
                  <a:srgbClr val="E8741E"/>
                </a:solidFill>
                <a:latin typeface="Segoe UI"/>
              </a:rPr>
              <a:t>■  </a:t>
            </a:r>
            <a:r>
              <a:rPr sz="1200" b="1">
                <a:solidFill>
                  <a:srgbClr val="404040"/>
                </a:solidFill>
                <a:latin typeface="Segoe UI"/>
              </a:rPr>
              <a:t>Base única = riesgo concentrado</a:t>
            </a:r>
          </a:p>
          <a:p>
            <a:pPr algn="l">
              <a:lnSpc>
                <a:spcPct val="110000"/>
              </a:lnSpc>
            </a:pPr>
            <a:r>
              <a:rPr sz="1080" b="0">
                <a:solidFill>
                  <a:srgbClr val="7A7A7A"/>
                </a:solidFill>
                <a:latin typeface="Segoe UI"/>
              </a:rPr>
              <a:t>      Una query pesada de reportes degrada lo transaccional.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58284"/>
            <a:ext cx="48463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>
                <a:solidFill>
                  <a:srgbClr val="E8741E"/>
                </a:solidFill>
                <a:latin typeface="Segoe UI"/>
              </a:rPr>
              <a:t>■  </a:t>
            </a:r>
            <a:r>
              <a:rPr sz="1200" b="1">
                <a:solidFill>
                  <a:srgbClr val="404040"/>
                </a:solidFill>
                <a:latin typeface="Segoe UI"/>
              </a:rPr>
              <a:t>Cuello de botella de equipos</a:t>
            </a:r>
          </a:p>
          <a:p>
            <a:pPr algn="l">
              <a:lnSpc>
                <a:spcPct val="110000"/>
              </a:lnSpc>
            </a:pPr>
            <a:r>
              <a:rPr sz="1080" b="0">
                <a:solidFill>
                  <a:srgbClr val="7A7A7A"/>
                </a:solidFill>
                <a:latin typeface="Segoe UI"/>
              </a:rPr>
              <a:t>      Varios equipos: merge conflicts y releases que coordinar.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230368"/>
            <a:ext cx="48463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>
                <a:solidFill>
                  <a:srgbClr val="E8741E"/>
                </a:solidFill>
                <a:latin typeface="Segoe UI"/>
              </a:rPr>
              <a:t>■  </a:t>
            </a:r>
            <a:r>
              <a:rPr sz="1200" b="1">
                <a:solidFill>
                  <a:srgbClr val="404040"/>
                </a:solidFill>
                <a:latin typeface="Segoe UI"/>
              </a:rPr>
              <a:t>Sin alta disponibilidad</a:t>
            </a:r>
          </a:p>
          <a:p>
            <a:pPr algn="l">
              <a:lnSpc>
                <a:spcPct val="110000"/>
              </a:lnSpc>
            </a:pPr>
            <a:r>
              <a:rPr sz="1080" b="0">
                <a:solidFill>
                  <a:srgbClr val="7A7A7A"/>
                </a:solidFill>
                <a:latin typeface="Segoe UI"/>
              </a:rPr>
              <a:t>      Render/Railway no dan autoscaling granular ni SLAs.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6437376"/>
            <a:ext cx="5742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6B2"/>
                </a:solidFill>
                <a:latin typeface="Segoe UI"/>
              </a:rPr>
              <a:t>4 / 11   ·   Expone: Nicolás Zyngale   ·   0:40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Segoe UI"/>
              </a:rPr>
              <a:t>El negocio fuerza la evolución a microservicios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7A7A7A"/>
                </a:solidFill>
                <a:latin typeface="Segoe UI"/>
              </a:rPr>
              <a:t>12 meses después: convenios B2B con dos cadenas regionales de gimnasios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908792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572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AEBFCE"/>
                </a:solidFill>
                <a:latin typeface="Segoe UI"/>
              </a:rPr>
              <a:t>De </a:t>
            </a:r>
            <a:r>
              <a:rPr sz="1800" b="1">
                <a:solidFill>
                  <a:srgbClr val="FFFFFF"/>
                </a:solidFill>
                <a:latin typeface="Segoe UI"/>
              </a:rPr>
              <a:t>100 entrenadores</a:t>
            </a:r>
          </a:p>
          <a:p>
            <a:pPr algn="l"/>
            <a:r>
              <a:rPr sz="1100" b="0">
                <a:solidFill>
                  <a:srgbClr val="AEBFCE"/>
                </a:solidFill>
                <a:latin typeface="Segoe UI"/>
              </a:rPr>
              <a:t>monolito · ~5.000 alumnos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737360"/>
            <a:ext cx="914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8741E"/>
                </a:solidFill>
                <a:latin typeface="Segoe U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AEBFCE"/>
                </a:solidFill>
                <a:latin typeface="Segoe UI"/>
              </a:rPr>
              <a:t>A </a:t>
            </a:r>
            <a:r>
              <a:rPr sz="1800" b="1">
                <a:solidFill>
                  <a:srgbClr val="E8741E"/>
                </a:solidFill>
                <a:latin typeface="Segoe UI"/>
              </a:rPr>
              <a:t>5.000 entrenadores</a:t>
            </a:r>
          </a:p>
          <a:p>
            <a:pPr algn="l"/>
            <a:r>
              <a:rPr sz="1100" b="0">
                <a:solidFill>
                  <a:srgbClr val="AEBFCE"/>
                </a:solidFill>
                <a:latin typeface="Segoe UI"/>
              </a:rPr>
              <a:t>~120.000 alumnos activos · equipos independientes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Segoe UI"/>
              </a:rPr>
              <a:t>Tres presiones que el monolito no resuelve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91840"/>
            <a:ext cx="3602736" cy="246888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3520440"/>
            <a:ext cx="548640" cy="548640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5204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224528"/>
            <a:ext cx="309067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1F4E79"/>
                </a:solidFill>
                <a:latin typeface="Segoe UI"/>
              </a:rPr>
              <a:t>Picos de tráfico violentos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404040"/>
                </a:solidFill>
                <a:latin typeface="Segoe UI"/>
              </a:rPr>
              <a:t>De 18 a 21 h los alumnos consultan su rutina desde el gimnasio (lecturas masivas). Los lunes el pico se triplica.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4548" y="3291840"/>
            <a:ext cx="3602736" cy="246888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40580" y="3520440"/>
            <a:ext cx="548640" cy="548640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0580" y="35204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0580" y="4224528"/>
            <a:ext cx="309067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1F4E79"/>
                </a:solidFill>
                <a:latin typeface="Segoe UI"/>
              </a:rPr>
              <a:t>Equipos independientes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404040"/>
                </a:solidFill>
                <a:latin typeface="Segoe UI"/>
              </a:rPr>
              <a:t>Tres equipos (Core de rutinas, Pagos/B2B, Experiencia del alumno) que necesitan desplegar sin coordinarse.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9015" y="3291840"/>
            <a:ext cx="3602736" cy="246888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85047" y="3520440"/>
            <a:ext cx="548640" cy="548640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7" y="35204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7" y="4224528"/>
            <a:ext cx="309067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1F4E79"/>
                </a:solidFill>
                <a:latin typeface="Segoe UI"/>
              </a:rPr>
              <a:t>Requisitos B2B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404040"/>
                </a:solidFill>
                <a:latin typeface="Segoe UI"/>
              </a:rPr>
              <a:t>Las cadenas exigen SLA, facturación consolidada y notificaciones masivas que no pueden competir con el flujo crítico.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6437376"/>
            <a:ext cx="5742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6B2"/>
                </a:solidFill>
                <a:latin typeface="Segoe UI"/>
              </a:rPr>
              <a:t>5 / 11   ·   Expone: Matías Saravia   ·   0:30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ase2a_microservicios_tradicion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56713"/>
            <a:ext cx="11731752" cy="499826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6437376"/>
            <a:ext cx="5742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6B2"/>
                </a:solidFill>
                <a:latin typeface="Segoe UI"/>
              </a:rPr>
              <a:t>6 / 11   ·   Expone: Matías Saravia   ·   0:30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ase2b_microservicios_moder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24086"/>
            <a:ext cx="11731752" cy="546352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6437376"/>
            <a:ext cx="5742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6B2"/>
                </a:solidFill>
                <a:latin typeface="Segoe UI"/>
              </a:rPr>
              <a:t>7 / 11   ·   Expone: Matías Saravia   ·   0:30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ase3_arquitectura_escal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49" y="201168"/>
            <a:ext cx="10966853" cy="6309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6437376"/>
            <a:ext cx="5742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6B2"/>
                </a:solidFill>
                <a:latin typeface="Segoe UI"/>
              </a:rPr>
              <a:t>8 / 11   ·   Expone: Lautaro Naglieri   ·   1:30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Segoe UI"/>
              </a:rPr>
              <a:t>Infraestructura, DevOps y ambientes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7A7A7A"/>
                </a:solidFill>
                <a:latin typeface="Segoe UI"/>
              </a:rPr>
              <a:t>Google Cloud Platform — un mismo artefacto Docker promovido por ambiente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5285232" cy="178308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73152" cy="1783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65960"/>
            <a:ext cx="482803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1F4E79"/>
                </a:solidFill>
                <a:latin typeface="Segoe UI"/>
              </a:rPr>
              <a:t>AMBIENTES (4 proyectos GCP)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Segoe UI"/>
              </a:rPr>
              <a:t>•  </a:t>
            </a:r>
            <a:r>
              <a:rPr sz="1100" b="0">
                <a:solidFill>
                  <a:srgbClr val="404040"/>
                </a:solidFill>
                <a:latin typeface="Segoe UI"/>
              </a:rPr>
              <a:t>4 proyectos aislados: Desarrollo · QA · UAT · Producción (permisos, red y facturación separados).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Segoe UI"/>
              </a:rPr>
              <a:t>•  </a:t>
            </a:r>
            <a:r>
              <a:rPr sz="1100" b="0">
                <a:solidFill>
                  <a:srgbClr val="404040"/>
                </a:solidFill>
                <a:latin typeface="Segoe UI"/>
              </a:rPr>
              <a:t>Se promueve la MISMA imagen Docker (tag = commit SHA); solo cambia la config inyectada.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783080"/>
            <a:ext cx="5285232" cy="178308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783080"/>
            <a:ext cx="73152" cy="1783080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965960"/>
            <a:ext cx="482803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1F4E79"/>
                </a:solidFill>
                <a:latin typeface="Segoe UI"/>
              </a:rPr>
              <a:t>CI/CD — GitHub Actions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E8741E"/>
                </a:solidFill>
                <a:latin typeface="Segoe UI"/>
              </a:rPr>
              <a:t>•  </a:t>
            </a:r>
            <a:r>
              <a:rPr sz="1100" b="0">
                <a:solidFill>
                  <a:srgbClr val="404040"/>
                </a:solidFill>
                <a:latin typeface="Segoe UI"/>
              </a:rPr>
              <a:t>CI en cada PR: lint → tests → build → scan Trivy → push a Artifact Registry.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E8741E"/>
                </a:solidFill>
                <a:latin typeface="Segoe UI"/>
              </a:rPr>
              <a:t>•  </a:t>
            </a:r>
            <a:r>
              <a:rPr sz="1100" b="0">
                <a:solidFill>
                  <a:srgbClr val="404040"/>
                </a:solidFill>
                <a:latin typeface="Segoe UI"/>
              </a:rPr>
              <a:t>CD: QA automático · UAT (rc-*) · Prod con aprobación manual y rollback por healthchecks.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5285232" cy="178308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703320"/>
            <a:ext cx="73152" cy="1783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886200"/>
            <a:ext cx="482803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1F4E79"/>
                </a:solidFill>
                <a:latin typeface="Segoe UI"/>
              </a:rPr>
              <a:t>CONTENEDORES + KUBERNETES (GKE)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Segoe UI"/>
              </a:rPr>
              <a:t>•  </a:t>
            </a:r>
            <a:r>
              <a:rPr sz="1100" b="0">
                <a:solidFill>
                  <a:srgbClr val="404040"/>
                </a:solidFill>
                <a:latin typeface="Segoe UI"/>
              </a:rPr>
              <a:t>1 imagen distroless (~80 MB) por servicio; Deployments con probes y HPA.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Segoe UI"/>
              </a:rPr>
              <a:t>•  </a:t>
            </a:r>
            <a:r>
              <a:rPr sz="1100" b="0">
                <a:solidFill>
                  <a:srgbClr val="404040"/>
                </a:solidFill>
                <a:latin typeface="Segoe UI"/>
              </a:rPr>
              <a:t>Ingress → Cloud Load Balancer; secretos con Secret Manager + Workload Identity.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703320"/>
            <a:ext cx="5285232" cy="178308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703320"/>
            <a:ext cx="73152" cy="1783080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886200"/>
            <a:ext cx="482803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1F4E79"/>
                </a:solidFill>
                <a:latin typeface="Segoe UI"/>
              </a:rPr>
              <a:t>INFRAESTRUCTURA COMO CÓDIGO (Terraform)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E8741E"/>
                </a:solidFill>
                <a:latin typeface="Segoe UI"/>
              </a:rPr>
              <a:t>•  </a:t>
            </a:r>
            <a:r>
              <a:rPr sz="1100" b="0">
                <a:solidFill>
                  <a:srgbClr val="404040"/>
                </a:solidFill>
                <a:latin typeface="Segoe UI"/>
              </a:rPr>
              <a:t>Módulos reutilizables: network · gke · cloudsql · redis · pubsub · iam, con dir por ambiente.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E8741E"/>
                </a:solidFill>
                <a:latin typeface="Segoe UI"/>
              </a:rPr>
              <a:t>•  </a:t>
            </a:r>
            <a:r>
              <a:rPr sz="1100" b="0">
                <a:solidFill>
                  <a:srgbClr val="404040"/>
                </a:solidFill>
                <a:latin typeface="Segoe UI"/>
              </a:rPr>
              <a:t>Estado remoto en GCS; cada cambio sigue el flujo PR → plan → apply.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687568"/>
            <a:ext cx="10908792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87568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E8741E"/>
                </a:solidFill>
                <a:latin typeface="Segoe UI"/>
              </a:rPr>
              <a:t>Costos (producción, GCP): </a:t>
            </a:r>
            <a:r>
              <a:rPr sz="1150" b="0">
                <a:solidFill>
                  <a:srgbClr val="FFFFFF"/>
                </a:solidFill>
                <a:latin typeface="Segoe UI"/>
              </a:rPr>
              <a:t>~USD 810/mes total · QA+UAT ~USD 150/mes (nodos spot, apagado nocturno) ≈ 1,1% del MRR con 5.000 entrenadores × USD 15.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6437376"/>
            <a:ext cx="5742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6B2"/>
                </a:solidFill>
                <a:latin typeface="Segoe UI"/>
              </a:rPr>
              <a:t>9 / 11   ·   Expone: Pablo Czurylo   ·   1:30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ase5_integracion_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72728"/>
            <a:ext cx="11731752" cy="51662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6437376"/>
            <a:ext cx="5742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6B2"/>
                </a:solidFill>
                <a:latin typeface="Segoe UI"/>
              </a:rPr>
              <a:t>10 / 11   ·   Expone: Leandro Gramajo   ·   1:30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Segoe UI"/>
              </a:rPr>
              <a:t>La evolución en una mirada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7A7A7A"/>
                </a:solidFill>
                <a:latin typeface="Segoe UI"/>
              </a:rPr>
              <a:t>Cada fase resolvió un problema concreto del negocio — nunca tecnología “porque sí”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155448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554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FASE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783080"/>
            <a:ext cx="9262872" cy="64008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42032" y="1783080"/>
            <a:ext cx="8869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1F4E79"/>
                </a:solidFill>
                <a:latin typeface="Segoe UI"/>
              </a:rPr>
              <a:t>Monolito modular en 3 capas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404040"/>
                </a:solidFill>
                <a:latin typeface="Segoe UI"/>
              </a:rPr>
              <a:t>MVP barato y rápido: un deploy, una base. USD 7–16/mes.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96312"/>
            <a:ext cx="1554480" cy="640080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96312"/>
            <a:ext cx="1554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FASE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496312"/>
            <a:ext cx="9262872" cy="64008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2032" y="2496312"/>
            <a:ext cx="8869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1F4E79"/>
                </a:solidFill>
                <a:latin typeface="Segoe UI"/>
              </a:rPr>
              <a:t>Microservicios: REST → eventos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404040"/>
                </a:solidFill>
                <a:latin typeface="Segoe UI"/>
              </a:rPr>
              <a:t>Autonomía de equipos; Pub/Sub desacopla y tolera fallos.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9544"/>
            <a:ext cx="155448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09544"/>
            <a:ext cx="1554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FASE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209544"/>
            <a:ext cx="9262872" cy="64008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2032" y="3209544"/>
            <a:ext cx="8869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1F4E79"/>
                </a:solidFill>
                <a:latin typeface="Segoe UI"/>
              </a:rPr>
              <a:t>Robustez y escalabilidad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404040"/>
                </a:solidFill>
                <a:latin typeface="Segoe UI"/>
              </a:rPr>
              <a:t>Redis, read replicas, LB y auto-scaling absorben el pico.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22776"/>
            <a:ext cx="1554480" cy="640080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22776"/>
            <a:ext cx="1554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FASE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922776"/>
            <a:ext cx="9262872" cy="64008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2032" y="3922776"/>
            <a:ext cx="8869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1F4E79"/>
                </a:solidFill>
                <a:latin typeface="Segoe UI"/>
              </a:rPr>
              <a:t>Infraestructura y DevOps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404040"/>
                </a:solidFill>
                <a:latin typeface="Segoe UI"/>
              </a:rPr>
              <a:t>GKE + Terraform + CI/CD; 4 ambientes. ~1,1% del MRR.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636008"/>
            <a:ext cx="155448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36008"/>
            <a:ext cx="1554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FASE 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636008"/>
            <a:ext cx="9262872" cy="64008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42032" y="4636008"/>
            <a:ext cx="8869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1F4E79"/>
                </a:solidFill>
                <a:latin typeface="Segoe UI"/>
              </a:rPr>
              <a:t>Integración con IA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404040"/>
                </a:solidFill>
                <a:latin typeface="Segoe UI"/>
              </a:rPr>
              <a:t>LLM asíncrono sobre el backbone de eventos; RAG a futuro.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85816"/>
            <a:ext cx="10908792" cy="603504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85816"/>
            <a:ext cx="10424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Conclusión: </a:t>
            </a:r>
            <a:r>
              <a:rPr sz="1200" b="0">
                <a:solidFill>
                  <a:srgbClr val="FFFFFF"/>
                </a:solidFill>
                <a:latin typeface="Segoe UI"/>
              </a:rPr>
              <a:t>cada fase respondió a una necesidad real del negocio y la arquitectura escaló de forma incremental, justificada por costo y rendimiento: el criterio del desarrollador por encima de la tecnología.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E87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6437376"/>
            <a:ext cx="5742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9AA6B2"/>
                </a:solidFill>
                <a:latin typeface="Segoe UI"/>
              </a:rPr>
              <a:t>11 / 11   ·   Expone: Conrado Gómez   ·   1:00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